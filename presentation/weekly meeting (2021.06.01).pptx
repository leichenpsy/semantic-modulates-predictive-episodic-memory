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6"/>
  </p:normalViewPr>
  <p:slideViewPr>
    <p:cSldViewPr snapToGrid="0" snapToObjects="1">
      <p:cViewPr varScale="1">
        <p:scale>
          <a:sx n="90" d="100"/>
          <a:sy n="90" d="100"/>
        </p:scale>
        <p:origin x="2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305C-EBFB-9740-85C8-7F832A0F3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D8E4-9BF1-5C47-A6C9-3394825A4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B523D-8F74-CA43-8D21-FEABDD6C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4706-E5A9-5845-BC48-4524D59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01855-14B5-F347-8455-8095D94D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7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641A-2584-0B4D-949A-BD26AD38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E0EAE-08FA-5542-9F94-DFDCA96F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48E3-F371-244B-B72F-5A295564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E6BDB-5B04-A74F-9EE2-9AB01756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C5168-FE8E-2046-82F0-EF5A6F4E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7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A3B1-F52F-7443-9ABB-E04EE753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380FD-89E1-CC44-BDA9-F65335F4A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7B58D-7EB4-7B4E-AB1B-D7EF5D63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6A7EF-8E93-3E4B-A634-8F995A3E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FBFA6-1416-0E40-ACEC-7B9807AF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0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46AD-F766-374D-B4D8-A3FBAE9F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ABD0-FE25-2F48-AA83-CCB3CFF1A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33D7B-DAB6-6B4D-B436-F70C128BD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414F7-34B9-8245-8772-C1E447F8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9AF98-FE36-4E43-8607-E6647276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9295D-0483-2F4D-8833-6287FA79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2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D5D8-E970-FF4F-8645-0A0E0930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9042-A00D-FB46-938E-41F358A1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DD2B1-B88B-5045-96D1-966AD1E1D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645CE-725C-3845-8B55-BB3CCB1DB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AA0F3-713A-334F-B0F9-E6C74B162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284654-778D-5549-98E0-B1A29E7C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A8AE22-8548-3649-B682-ADFBF9AE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A1684-F77C-BC47-A761-1070D076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0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9156-E1D4-AA45-BD28-359359C12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1532E-3A63-0A4B-9DA3-387C80A6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6C676-2724-CF42-80BB-A156A7CD6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08040-9C8F-B945-B4F3-FBDED4AE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2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863B9-87E5-314E-927B-91FC8687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91BFB-E81F-D249-968D-CA67128F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D5584-A08F-1848-906A-BC9D8B35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1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46DF-E4BA-CD42-A1BF-75013B68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4099-A519-6F49-AA57-3E1A0757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A29DA-58EE-674D-924B-7ACCD24A0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5268F-78D3-C44C-A54E-F43050C1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B06B4-D0F1-2743-A8B8-144BBF47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8EEE9-7262-AE45-A1B9-15F1A6B2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1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A2AA-FDD7-1E4C-A0BE-5CBB1B8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055C6-24DB-4C4D-BD2F-A4B74ED1D0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DBC05-09CA-2040-BC1F-20D46B4FD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4EE81-7077-CE45-A097-282E0774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58107-8126-5347-9BA8-95DD8EE9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6B24D-3C6A-D446-9BB9-0C386E1E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8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22F3-70A9-914F-B7AF-AEF68D11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1AE51-9A22-A847-B545-852470385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42F44-2800-F445-BEC7-4F92E608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FB772-7B46-614C-9BDF-8C4A0629A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4CB68-F3DF-AA4A-80B7-C99DE529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61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61C2C-346A-534C-8A93-AF51E2EC6C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9F982-470C-804B-8015-410BA9032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17814-C6B4-A646-9ABD-76E09E96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B9E6-B5F4-BA45-878B-8C156DB3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41C26-F49A-A14A-83AB-B3FD951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467CA-3609-DB43-8C05-2A6B079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82194-73E8-9F4F-9DA1-A674C0BB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740A-D4AF-B342-B5AB-8FA7F4B19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F1A0A-4AD3-9040-8852-6B39BA8384E6}" type="datetimeFigureOut">
              <a:rPr lang="en-US" smtClean="0"/>
              <a:t>6/8/21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AC5E9-70C2-3645-9113-5E4F4DD99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F226C-353F-FC41-9AFA-AB146E20D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85CFE-5428-FE4A-868F-2223AACC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93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FBD8-1496-7D4E-A037-91C8CE3A5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3BA2A-08CC-FA47-8AD5-01CFEE1C7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19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B167-1C3B-FD4E-A2B3-1D41AFFF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Confusion1: ‘no response’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1EBB-C53A-1D4B-9ED8-CCFAA944A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‘no response detected’ in the response window</a:t>
            </a:r>
          </a:p>
          <a:p>
            <a:r>
              <a:rPr lang="en-US" dirty="0" err="1"/>
              <a:t>memoryTest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4C8E6A6-E817-4D4E-ABB7-4C0DB49AF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099" y="2452688"/>
            <a:ext cx="2988106" cy="97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4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C403-8804-5F44-91F0-8D307365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Confusion2: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55EE1-0DC8-8548-BD55-454578F7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Candidates: A’ , d’, hit rate, false alarm rate</a:t>
            </a:r>
          </a:p>
          <a:p>
            <a:r>
              <a:rPr lang="en-US" dirty="0"/>
              <a:t>Sherman et al(2020): A’, hit rate, false alarm rate.</a:t>
            </a:r>
          </a:p>
          <a:p>
            <a:pPr lvl="1"/>
            <a:r>
              <a:rPr lang="en-US" dirty="0"/>
              <a:t>A’: above 0.5</a:t>
            </a:r>
          </a:p>
          <a:p>
            <a:pPr lvl="1"/>
            <a:r>
              <a:rPr lang="en-US" dirty="0"/>
              <a:t>Hit rate: works best</a:t>
            </a:r>
          </a:p>
          <a:p>
            <a:pPr lvl="1"/>
            <a:r>
              <a:rPr lang="en-US" dirty="0"/>
              <a:t>False alarm rate: no findings</a:t>
            </a:r>
          </a:p>
          <a:p>
            <a:r>
              <a:rPr lang="en-US" dirty="0"/>
              <a:t>Previous analysis: accuracy level</a:t>
            </a:r>
          </a:p>
          <a:p>
            <a:pPr lvl="1"/>
            <a:r>
              <a:rPr lang="en-US" dirty="0"/>
              <a:t>(Hit(counts)+</a:t>
            </a:r>
            <a:r>
              <a:rPr lang="en-US" dirty="0" err="1"/>
              <a:t>correct_rejection</a:t>
            </a:r>
            <a:r>
              <a:rPr lang="en-US" dirty="0"/>
              <a:t>(counts))/total trials</a:t>
            </a:r>
          </a:p>
          <a:p>
            <a:pPr lvl="2"/>
            <a:r>
              <a:rPr lang="en-US" dirty="0"/>
              <a:t>Include ‘no response’ in denominator</a:t>
            </a:r>
          </a:p>
          <a:p>
            <a:pPr lvl="2"/>
            <a:r>
              <a:rPr lang="en-US" dirty="0"/>
              <a:t>Strict measurement ( with confidence rating)</a:t>
            </a:r>
          </a:p>
        </p:txBody>
      </p:sp>
    </p:spTree>
    <p:extLst>
      <p:ext uri="{BB962C8B-B14F-4D97-AF65-F5344CB8AC3E}">
        <p14:creationId xmlns:p14="http://schemas.microsoft.com/office/powerpoint/2010/main" val="154582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D22E-E382-F24D-A47C-5AE1D8D0C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18"/>
            <a:ext cx="10515600" cy="1325563"/>
          </a:xfrm>
        </p:spPr>
        <p:txBody>
          <a:bodyPr/>
          <a:lstStyle/>
          <a:p>
            <a:r>
              <a:rPr lang="en-US" dirty="0"/>
              <a:t>Confusion 3: confidence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FE76-1378-E748-AC8E-EC99F4D52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7" y="1480387"/>
            <a:ext cx="3404938" cy="566566"/>
          </a:xfrm>
        </p:spPr>
        <p:txBody>
          <a:bodyPr/>
          <a:lstStyle/>
          <a:p>
            <a:r>
              <a:rPr lang="en-US" dirty="0"/>
              <a:t>Strict mode</a:t>
            </a:r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A9F8CD-A51C-4248-B8E1-C30573A7E05D}"/>
              </a:ext>
            </a:extLst>
          </p:cNvPr>
          <p:cNvGrpSpPr/>
          <p:nvPr/>
        </p:nvGrpSpPr>
        <p:grpSpPr>
          <a:xfrm>
            <a:off x="236621" y="2282864"/>
            <a:ext cx="5293893" cy="2096590"/>
            <a:chOff x="176463" y="2310063"/>
            <a:chExt cx="5293893" cy="209659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DE8B5E-B166-DD41-A880-D703FC2C2130}"/>
                </a:ext>
              </a:extLst>
            </p:cNvPr>
            <p:cNvSpPr/>
            <p:nvPr/>
          </p:nvSpPr>
          <p:spPr>
            <a:xfrm>
              <a:off x="1636294" y="2310063"/>
              <a:ext cx="673767" cy="34891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old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219807-0B57-2B43-AB60-A75E8BD1AD74}"/>
                </a:ext>
              </a:extLst>
            </p:cNvPr>
            <p:cNvSpPr/>
            <p:nvPr/>
          </p:nvSpPr>
          <p:spPr>
            <a:xfrm>
              <a:off x="180474" y="2823746"/>
              <a:ext cx="1323473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old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FBCAB1-D706-164F-87B2-4805FDC8AE2E}"/>
                </a:ext>
              </a:extLst>
            </p:cNvPr>
            <p:cNvSpPr/>
            <p:nvPr/>
          </p:nvSpPr>
          <p:spPr>
            <a:xfrm>
              <a:off x="1503947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old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9A90A15-4BE1-504D-BA74-ED096D89D0E3}"/>
                </a:ext>
              </a:extLst>
            </p:cNvPr>
            <p:cNvSpPr/>
            <p:nvPr/>
          </p:nvSpPr>
          <p:spPr>
            <a:xfrm>
              <a:off x="2825415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new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4C2F22-2E48-0C46-A5A0-64D8E71728BA}"/>
                </a:ext>
              </a:extLst>
            </p:cNvPr>
            <p:cNvSpPr/>
            <p:nvPr/>
          </p:nvSpPr>
          <p:spPr>
            <a:xfrm>
              <a:off x="4146883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new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92293F-C699-174C-A1E2-968855E1AF31}"/>
                </a:ext>
              </a:extLst>
            </p:cNvPr>
            <p:cNvSpPr/>
            <p:nvPr/>
          </p:nvSpPr>
          <p:spPr>
            <a:xfrm>
              <a:off x="176463" y="3373523"/>
              <a:ext cx="1323473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BFFA33-F332-8647-AC6B-282F7ACE89C3}"/>
                </a:ext>
              </a:extLst>
            </p:cNvPr>
            <p:cNvSpPr/>
            <p:nvPr/>
          </p:nvSpPr>
          <p:spPr>
            <a:xfrm>
              <a:off x="4146883" y="3373523"/>
              <a:ext cx="1323473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miss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E2652E-13ED-6848-9CB8-0B09B5AD20FF}"/>
                </a:ext>
              </a:extLst>
            </p:cNvPr>
            <p:cNvSpPr/>
            <p:nvPr/>
          </p:nvSpPr>
          <p:spPr>
            <a:xfrm>
              <a:off x="1501942" y="4021643"/>
              <a:ext cx="3956383" cy="385010"/>
            </a:xfrm>
            <a:prstGeom prst="rect">
              <a:avLst/>
            </a:prstGeom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miss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A8291-44BB-CD40-8A03-B4F21586C40A}"/>
              </a:ext>
            </a:extLst>
          </p:cNvPr>
          <p:cNvGrpSpPr/>
          <p:nvPr/>
        </p:nvGrpSpPr>
        <p:grpSpPr>
          <a:xfrm>
            <a:off x="224590" y="4579271"/>
            <a:ext cx="5293893" cy="1982463"/>
            <a:chOff x="176463" y="2310063"/>
            <a:chExt cx="5293893" cy="19824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F90A2FB-DADF-FD44-BB89-2ABB807CB56D}"/>
                </a:ext>
              </a:extLst>
            </p:cNvPr>
            <p:cNvSpPr/>
            <p:nvPr/>
          </p:nvSpPr>
          <p:spPr>
            <a:xfrm>
              <a:off x="1636294" y="2310063"/>
              <a:ext cx="685799" cy="34891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new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E0D1D42-1017-774D-B7D9-543FE1D5BC54}"/>
                </a:ext>
              </a:extLst>
            </p:cNvPr>
            <p:cNvSpPr/>
            <p:nvPr/>
          </p:nvSpPr>
          <p:spPr>
            <a:xfrm>
              <a:off x="180474" y="2823746"/>
              <a:ext cx="1323473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old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FBEEFEF-7D0D-B94E-A5E7-FF4948A734F1}"/>
                </a:ext>
              </a:extLst>
            </p:cNvPr>
            <p:cNvSpPr/>
            <p:nvPr/>
          </p:nvSpPr>
          <p:spPr>
            <a:xfrm>
              <a:off x="1503947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old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79EBF1-A889-2042-AD51-CC81540DB0DF}"/>
                </a:ext>
              </a:extLst>
            </p:cNvPr>
            <p:cNvSpPr/>
            <p:nvPr/>
          </p:nvSpPr>
          <p:spPr>
            <a:xfrm>
              <a:off x="2825415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new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B3D4742-0443-4D42-B606-15D9AA544982}"/>
                </a:ext>
              </a:extLst>
            </p:cNvPr>
            <p:cNvSpPr/>
            <p:nvPr/>
          </p:nvSpPr>
          <p:spPr>
            <a:xfrm>
              <a:off x="4146883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new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16F1390-2AF0-734A-AAE2-5F17F1F262C3}"/>
                </a:ext>
              </a:extLst>
            </p:cNvPr>
            <p:cNvSpPr/>
            <p:nvPr/>
          </p:nvSpPr>
          <p:spPr>
            <a:xfrm>
              <a:off x="176463" y="3373523"/>
              <a:ext cx="1323473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False alarm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96550E-0CC6-C14E-84A0-A093A3046AAD}"/>
                </a:ext>
              </a:extLst>
            </p:cNvPr>
            <p:cNvSpPr/>
            <p:nvPr/>
          </p:nvSpPr>
          <p:spPr>
            <a:xfrm>
              <a:off x="4146883" y="3373523"/>
              <a:ext cx="1323473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Correct </a:t>
              </a:r>
              <a:r>
                <a:rPr lang="en-US" dirty="0" err="1"/>
                <a:t>rej</a:t>
              </a:r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DF76477-3864-CD4B-AD51-4DFCBAEAEF0E}"/>
                </a:ext>
              </a:extLst>
            </p:cNvPr>
            <p:cNvSpPr/>
            <p:nvPr/>
          </p:nvSpPr>
          <p:spPr>
            <a:xfrm>
              <a:off x="176463" y="3907516"/>
              <a:ext cx="3956383" cy="385010"/>
            </a:xfrm>
            <a:prstGeom prst="rect">
              <a:avLst/>
            </a:prstGeom>
            <a:ln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False alarm</a:t>
              </a:r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50D6B6D-EF5C-434A-9AFC-7D12B9684C2A}"/>
              </a:ext>
            </a:extLst>
          </p:cNvPr>
          <p:cNvSpPr txBox="1">
            <a:spLocks/>
          </p:cNvSpPr>
          <p:nvPr/>
        </p:nvSpPr>
        <p:spPr>
          <a:xfrm>
            <a:off x="6565230" y="1507582"/>
            <a:ext cx="3404938" cy="56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Loose mode</a:t>
            </a:r>
          </a:p>
          <a:p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7A07B22-AF56-1E49-BE24-DCBE256EEBDC}"/>
              </a:ext>
            </a:extLst>
          </p:cNvPr>
          <p:cNvGrpSpPr/>
          <p:nvPr/>
        </p:nvGrpSpPr>
        <p:grpSpPr>
          <a:xfrm>
            <a:off x="6657475" y="2282864"/>
            <a:ext cx="5293893" cy="1448470"/>
            <a:chOff x="176463" y="2310063"/>
            <a:chExt cx="5293893" cy="144847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728F14-8899-904C-B778-BA72BE20945A}"/>
                </a:ext>
              </a:extLst>
            </p:cNvPr>
            <p:cNvSpPr/>
            <p:nvPr/>
          </p:nvSpPr>
          <p:spPr>
            <a:xfrm>
              <a:off x="1636294" y="2310063"/>
              <a:ext cx="673767" cy="34891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old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048881F-94C9-2246-9959-117032FE9545}"/>
                </a:ext>
              </a:extLst>
            </p:cNvPr>
            <p:cNvSpPr/>
            <p:nvPr/>
          </p:nvSpPr>
          <p:spPr>
            <a:xfrm>
              <a:off x="180474" y="2823746"/>
              <a:ext cx="1323473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old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0DE1E7-72A7-2948-AC0B-18D7391B54E9}"/>
                </a:ext>
              </a:extLst>
            </p:cNvPr>
            <p:cNvSpPr/>
            <p:nvPr/>
          </p:nvSpPr>
          <p:spPr>
            <a:xfrm>
              <a:off x="1503947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old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4879FC0-8B0E-0A44-8C54-11D8DE0106FA}"/>
                </a:ext>
              </a:extLst>
            </p:cNvPr>
            <p:cNvSpPr/>
            <p:nvPr/>
          </p:nvSpPr>
          <p:spPr>
            <a:xfrm>
              <a:off x="2825415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new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EA3DDA1-FC6B-ED4A-85F0-4CAB649870FB}"/>
                </a:ext>
              </a:extLst>
            </p:cNvPr>
            <p:cNvSpPr/>
            <p:nvPr/>
          </p:nvSpPr>
          <p:spPr>
            <a:xfrm>
              <a:off x="4146883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new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77DD6AD-0289-3644-ACA4-8363FAC4844D}"/>
                </a:ext>
              </a:extLst>
            </p:cNvPr>
            <p:cNvSpPr/>
            <p:nvPr/>
          </p:nvSpPr>
          <p:spPr>
            <a:xfrm>
              <a:off x="176463" y="3373523"/>
              <a:ext cx="2638926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3B396D6-ADD9-4446-ADA1-6C3A58759A5A}"/>
                </a:ext>
              </a:extLst>
            </p:cNvPr>
            <p:cNvSpPr/>
            <p:nvPr/>
          </p:nvSpPr>
          <p:spPr>
            <a:xfrm>
              <a:off x="2815389" y="3373523"/>
              <a:ext cx="2654967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miss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6373A7-E962-B048-8B6A-0BFA50FC37E5}"/>
              </a:ext>
            </a:extLst>
          </p:cNvPr>
          <p:cNvGrpSpPr/>
          <p:nvPr/>
        </p:nvGrpSpPr>
        <p:grpSpPr>
          <a:xfrm>
            <a:off x="6665495" y="4386766"/>
            <a:ext cx="5293893" cy="1448470"/>
            <a:chOff x="176463" y="2310063"/>
            <a:chExt cx="5293893" cy="144847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6A7F24-A5A2-5A4A-9946-636E9A373A62}"/>
                </a:ext>
              </a:extLst>
            </p:cNvPr>
            <p:cNvSpPr/>
            <p:nvPr/>
          </p:nvSpPr>
          <p:spPr>
            <a:xfrm>
              <a:off x="1636294" y="2310063"/>
              <a:ext cx="673767" cy="348916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new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77F63BD-6FFB-614A-9C3D-6226013B2172}"/>
                </a:ext>
              </a:extLst>
            </p:cNvPr>
            <p:cNvSpPr/>
            <p:nvPr/>
          </p:nvSpPr>
          <p:spPr>
            <a:xfrm>
              <a:off x="180474" y="2823746"/>
              <a:ext cx="1323473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old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D0FE352-3D73-C246-939A-C73E4F44D71F}"/>
                </a:ext>
              </a:extLst>
            </p:cNvPr>
            <p:cNvSpPr/>
            <p:nvPr/>
          </p:nvSpPr>
          <p:spPr>
            <a:xfrm>
              <a:off x="1503947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old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00FF8CE-75BB-C74B-A205-332481B772C3}"/>
                </a:ext>
              </a:extLst>
            </p:cNvPr>
            <p:cNvSpPr/>
            <p:nvPr/>
          </p:nvSpPr>
          <p:spPr>
            <a:xfrm>
              <a:off x="2825415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Unsure new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3193D62-6781-3F40-B8CC-1D5D1CB47ADB}"/>
                </a:ext>
              </a:extLst>
            </p:cNvPr>
            <p:cNvSpPr/>
            <p:nvPr/>
          </p:nvSpPr>
          <p:spPr>
            <a:xfrm>
              <a:off x="4146883" y="2823746"/>
              <a:ext cx="1311442" cy="38501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Sure new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6008242-076E-674B-BEFD-FC3CC250CF1B}"/>
                </a:ext>
              </a:extLst>
            </p:cNvPr>
            <p:cNvSpPr/>
            <p:nvPr/>
          </p:nvSpPr>
          <p:spPr>
            <a:xfrm>
              <a:off x="176463" y="3373523"/>
              <a:ext cx="2638926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False alarm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1238566-6723-1140-B835-3CFDE5D3278C}"/>
                </a:ext>
              </a:extLst>
            </p:cNvPr>
            <p:cNvSpPr/>
            <p:nvPr/>
          </p:nvSpPr>
          <p:spPr>
            <a:xfrm>
              <a:off x="2815389" y="3373523"/>
              <a:ext cx="2654967" cy="3850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Correct rejection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859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0FAE-F029-2F44-B5C9-FBD1BA08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EFBE0-44F9-A24F-8EBE-BC38F4564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exclude ‘no response’</a:t>
            </a:r>
          </a:p>
          <a:p>
            <a:r>
              <a:rPr lang="en-US" dirty="0"/>
              <a:t>Loose mode</a:t>
            </a:r>
          </a:p>
          <a:p>
            <a:r>
              <a:rPr lang="en-US" dirty="0"/>
              <a:t>A’, d’</a:t>
            </a:r>
          </a:p>
          <a:p>
            <a:r>
              <a:rPr lang="en-US" dirty="0"/>
              <a:t>hit rate, false alarm rate (‘no response’ included)</a:t>
            </a:r>
          </a:p>
          <a:p>
            <a:pPr lvl="1"/>
            <a:r>
              <a:rPr lang="en-US" dirty="0" err="1"/>
              <a:t>Hit_num</a:t>
            </a:r>
            <a:r>
              <a:rPr lang="en-US" dirty="0"/>
              <a:t>/</a:t>
            </a:r>
            <a:r>
              <a:rPr lang="en-US" dirty="0" err="1"/>
              <a:t>old_num</a:t>
            </a:r>
            <a:endParaRPr lang="en-US" dirty="0"/>
          </a:p>
          <a:p>
            <a:pPr lvl="1"/>
            <a:r>
              <a:rPr lang="en-US" dirty="0" err="1"/>
              <a:t>False_alarm_num</a:t>
            </a:r>
            <a:r>
              <a:rPr lang="en-US" dirty="0"/>
              <a:t>/</a:t>
            </a:r>
            <a:r>
              <a:rPr lang="en-US" dirty="0" err="1"/>
              <a:t>new_num</a:t>
            </a:r>
            <a:endParaRPr lang="en-US" dirty="0"/>
          </a:p>
          <a:p>
            <a:r>
              <a:rPr lang="en-US" dirty="0"/>
              <a:t>Accuracy level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81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ADE7-8883-2B40-B76D-1B3954B3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test:</a:t>
            </a:r>
            <a:br>
              <a:rPr lang="en-US" dirty="0"/>
            </a:br>
            <a:r>
              <a:rPr lang="en-US" dirty="0"/>
              <a:t>	</a:t>
            </a:r>
            <a:r>
              <a:rPr lang="en-US" sz="3600" dirty="0"/>
              <a:t>Performance above chance?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1D84C-F849-064A-A475-C4E32199F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Barely</a:t>
            </a:r>
          </a:p>
          <a:p>
            <a:pPr lvl="1"/>
            <a:r>
              <a:rPr lang="en-US" dirty="0" err="1"/>
              <a:t>cue_aprime</a:t>
            </a:r>
            <a:r>
              <a:rPr lang="en-US" dirty="0"/>
              <a:t> </a:t>
            </a:r>
            <a:r>
              <a:rPr lang="en-US" dirty="0" err="1"/>
              <a:t>filler_aprime</a:t>
            </a:r>
            <a:r>
              <a:rPr lang="en-US" dirty="0"/>
              <a:t> </a:t>
            </a:r>
            <a:r>
              <a:rPr lang="en-US" dirty="0" err="1"/>
              <a:t>target_aprime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   0.5493222     0.5775942     0.5966490 </a:t>
            </a:r>
          </a:p>
          <a:p>
            <a:pPr lvl="1"/>
            <a:r>
              <a:rPr lang="en-US" dirty="0"/>
              <a:t>Sherman et al (2020) : 0.68-0.75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cue_dprime</a:t>
            </a:r>
            <a:r>
              <a:rPr lang="en-US" dirty="0"/>
              <a:t> </a:t>
            </a:r>
            <a:r>
              <a:rPr lang="en-US" dirty="0" err="1"/>
              <a:t>filler_dprime</a:t>
            </a:r>
            <a:r>
              <a:rPr lang="en-US" dirty="0"/>
              <a:t> </a:t>
            </a:r>
            <a:r>
              <a:rPr lang="en-US" dirty="0" err="1"/>
              <a:t>target_dprime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    0.1384310     0.2363603     0.2832863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858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70C5-3566-B040-A078-BB24803A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modulated by type?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CBF7-5FC1-FF48-B19B-085DB9C39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within-subject factor TYPE : 3 level (cue, filler, target)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FC2DD5AB-CD20-584E-9C92-5B639EE3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3219450"/>
            <a:ext cx="6045200" cy="1333500"/>
          </a:xfrm>
          <a:prstGeom prst="rect">
            <a:avLst/>
          </a:prstGeom>
        </p:spPr>
      </p:pic>
      <p:pic>
        <p:nvPicPr>
          <p:cNvPr id="7" name="Picture 6" descr="Chart, box and whisker chart&#10;&#10;Description automatically generated">
            <a:extLst>
              <a:ext uri="{FF2B5EF4-FFF2-40B4-BE49-F238E27FC236}">
                <a16:creationId xmlns:a16="http://schemas.microsoft.com/office/drawing/2014/main" id="{47DC7339-12FE-1E40-92F2-8F7087D30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2593764"/>
            <a:ext cx="4889500" cy="33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80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70C5-3566-B040-A078-BB24803A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modulated by type?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CBF7-5FC1-FF48-B19B-085DB9C39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within-subject factor TYPE : 3 level (cue, filler, target)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46F544C2-EA9F-9640-BB41-ECF7A5A2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56" y="2976563"/>
            <a:ext cx="6705600" cy="1333500"/>
          </a:xfrm>
          <a:prstGeom prst="rect">
            <a:avLst/>
          </a:prstGeom>
        </p:spPr>
      </p:pic>
      <p:pic>
        <p:nvPicPr>
          <p:cNvPr id="9" name="Picture 8" descr="Chart, box and whisker chart&#10;&#10;Description automatically generated">
            <a:extLst>
              <a:ext uri="{FF2B5EF4-FFF2-40B4-BE49-F238E27FC236}">
                <a16:creationId xmlns:a16="http://schemas.microsoft.com/office/drawing/2014/main" id="{B5FB59D9-0F64-614F-AAB7-397C60339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506" y="2486819"/>
            <a:ext cx="4217731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96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0BA8-EA64-B547-A60A-B74A86BD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57ADC2BE-9B53-BD4A-81FC-CD78AC40C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57514"/>
            <a:ext cx="4524565" cy="3532188"/>
          </a:xfr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5302D0A-8498-2943-A83F-0E0F68816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199"/>
            <a:ext cx="6731000" cy="214630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9FCEABBD-B3BB-C74E-A960-DC297BE08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50" y="2657514"/>
            <a:ext cx="4596299" cy="3588189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B3BBFDA9-024F-624C-83BF-486C90601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436" y="2751876"/>
            <a:ext cx="4403691" cy="34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8D0E-6BFD-2E42-A956-A5D406BB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8D609-CD7D-8545-9A5F-564A45848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12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6A23F-6C1F-BB42-B073-561C2286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048CD-C8CE-D441-9D19-FEB23E40E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6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5101</TotalTime>
  <Words>279</Words>
  <Application>Microsoft Macintosh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Confusion1: ‘no response’</vt:lpstr>
      <vt:lpstr>Confusion2: index</vt:lpstr>
      <vt:lpstr>Confusion 3: confidence rating</vt:lpstr>
      <vt:lpstr>This analysis</vt:lpstr>
      <vt:lpstr>Memory test:  Performance above chance?</vt:lpstr>
      <vt:lpstr>Memory modulated by type? </vt:lpstr>
      <vt:lpstr>Memory modulated by type?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Chen, Lei</dc:creator>
  <cp:lastModifiedBy>Chen, Lei</cp:lastModifiedBy>
  <cp:revision>16</cp:revision>
  <dcterms:created xsi:type="dcterms:W3CDTF">2021-06-01T01:48:29Z</dcterms:created>
  <dcterms:modified xsi:type="dcterms:W3CDTF">2021-06-09T02:09:44Z</dcterms:modified>
</cp:coreProperties>
</file>